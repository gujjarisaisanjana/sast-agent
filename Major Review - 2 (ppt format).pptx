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69" r:id="rId2"/>
    <p:sldId id="257" r:id="rId3"/>
    <p:sldId id="258" r:id="rId4"/>
    <p:sldId id="259" r:id="rId5"/>
    <p:sldId id="285" r:id="rId6"/>
    <p:sldId id="260" r:id="rId7"/>
    <p:sldId id="286" r:id="rId8"/>
    <p:sldId id="261" r:id="rId9"/>
    <p:sldId id="262" r:id="rId10"/>
    <p:sldId id="263" r:id="rId11"/>
    <p:sldId id="265" r:id="rId12"/>
    <p:sldId id="264" r:id="rId13"/>
    <p:sldId id="287" r:id="rId14"/>
    <p:sldId id="266" r:id="rId15"/>
    <p:sldId id="268" r:id="rId16"/>
    <p:sldId id="289" r:id="rId17"/>
    <p:sldId id="290" r:id="rId18"/>
    <p:sldId id="291" r:id="rId19"/>
    <p:sldId id="292" r:id="rId20"/>
    <p:sldId id="293" r:id="rId21"/>
    <p:sldId id="295" r:id="rId22"/>
    <p:sldId id="284" r:id="rId23"/>
    <p:sldId id="294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35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15E25-3D0C-4ED7-A57E-CBC156EC1CAD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0A6722-D937-4FA0-9853-2799CD0358A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0A6722-D937-4FA0-9853-2799CD0358A6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DBC39-3A2F-40C7-91DD-AADEC1203624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78191-2160-4398-8955-43731C5975A3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E2BA5-A965-4DB4-94C9-7552AC0FB40B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B8C8-DF02-432E-97C1-13F88B857B15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705-CA89-4652-8E9B-3864442B0EE4}" type="datetime1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DAC7E-7474-4E6B-B09F-C801D8F97739}" type="datetime1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33BAC-D888-404E-ABC4-02114CB77154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0CBC4-880B-4615-9688-54F0E036EB5D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F4FF7-365F-4D8C-AAA1-E4C9A248E56C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7650C-B980-4457-A11B-F8BF3A7F740F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207BF-9D99-46BA-AADB-5D4876E79373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3CF13-ABC6-4916-A5F6-4FD562A6A98C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200" y="632851"/>
            <a:ext cx="7543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Bahnschrift SemiBold" panose="020B0502040204020203" pitchFamily="34" charset="0"/>
                <a:ea typeface="Calibri" pitchFamily="34" charset="0"/>
                <a:cs typeface="Times New Roman" pitchFamily="18" charset="0"/>
              </a:rPr>
              <a:t>Vishwa Vishwani Institute of Systems &amp; Management</a:t>
            </a:r>
            <a:endParaRPr lang="en-US" sz="2400" dirty="0">
              <a:latin typeface="Bahnschrift SemiBold" panose="020B0502040204020203" pitchFamily="34" charset="0"/>
              <a:ea typeface="Calibri" pitchFamily="34" charset="0"/>
              <a:cs typeface="Arial" pitchFamily="34" charset="0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Bahnschrift SemiBold" panose="020B0502040204020203" pitchFamily="34" charset="0"/>
                <a:cs typeface="Times New Roman" pitchFamily="18" charset="0"/>
              </a:rPr>
              <a:t> Affiliated to Osmania University 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 err="1">
                <a:latin typeface="Bahnschrift SemiBold" panose="020B0502040204020203" pitchFamily="34" charset="0"/>
                <a:ea typeface="Calibri" pitchFamily="34" charset="0"/>
                <a:cs typeface="Times New Roman" pitchFamily="18" charset="0"/>
              </a:rPr>
              <a:t>Thumkunta</a:t>
            </a:r>
            <a:r>
              <a:rPr lang="en-US" sz="1400" dirty="0">
                <a:latin typeface="Bahnschrift SemiBold" panose="020B0502040204020203" pitchFamily="34" charset="0"/>
                <a:ea typeface="Calibri" pitchFamily="34" charset="0"/>
                <a:cs typeface="Times New Roman" pitchFamily="18" charset="0"/>
              </a:rPr>
              <a:t>, Hyderabad.</a:t>
            </a:r>
            <a:endParaRPr lang="en-US" sz="1400" dirty="0">
              <a:latin typeface="Bahnschrift SemiBold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33126" y="5181600"/>
            <a:ext cx="29779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Ms. Roshini</a:t>
            </a:r>
          </a:p>
          <a:p>
            <a:r>
              <a:rPr lang="en-US" b="1" dirty="0"/>
              <a:t>Assistant Professor</a:t>
            </a:r>
          </a:p>
          <a:p>
            <a:r>
              <a:rPr lang="en-US" b="1" dirty="0"/>
              <a:t>Department of BS-MS (CS)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5181600"/>
            <a:ext cx="266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Sai Sanjana Gujjari   217022026028</a:t>
            </a:r>
          </a:p>
          <a:p>
            <a:r>
              <a:rPr lang="en-US" b="1" dirty="0"/>
              <a:t>Dumpala Pardha Saradhi   217022026007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F86C94-0443-D187-B040-C22FB2DCBB0C}"/>
              </a:ext>
            </a:extLst>
          </p:cNvPr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AI POWERED SAST AGENT</a:t>
            </a:r>
          </a:p>
        </p:txBody>
      </p:sp>
      <p:pic>
        <p:nvPicPr>
          <p:cNvPr id="9" name="Image 1" descr="A blue and grey text  Description automatically generated">
            <a:extLst>
              <a:ext uri="{FF2B5EF4-FFF2-40B4-BE49-F238E27FC236}">
                <a16:creationId xmlns:a16="http://schemas.microsoft.com/office/drawing/2014/main" id="{359C7DCC-7A21-20F2-3268-C7E418CFB80B}"/>
              </a:ext>
            </a:extLst>
          </p:cNvPr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16944"/>
            <a:ext cx="2052536" cy="514350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755BC50-70C2-3F37-AC78-A852D88A3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5FC99-B022-46DA-9456-FC4C6C5AC0D1}" type="datetime1">
              <a:rPr lang="en-US" smtClean="0"/>
              <a:t>5/1/2026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4817191-B6A0-58C8-9CA0-ECFB04CEE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2" name="Image 1">
            <a:extLst>
              <a:ext uri="{FF2B5EF4-FFF2-40B4-BE49-F238E27FC236}">
                <a16:creationId xmlns:a16="http://schemas.microsoft.com/office/drawing/2014/main" id="{4847F62B-E589-246C-87BB-D6F3FEF27FF8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23940" y="16944"/>
            <a:ext cx="1095260" cy="6463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7842ED-39B0-20C0-AEA8-13E9AA86695F}"/>
              </a:ext>
            </a:extLst>
          </p:cNvPr>
          <p:cNvSpPr txBox="1"/>
          <p:nvPr/>
        </p:nvSpPr>
        <p:spPr>
          <a:xfrm>
            <a:off x="1788104" y="1790005"/>
            <a:ext cx="533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BS-MS (Computer Science) – 5 yrs Integrated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rmAutofit/>
          </a:bodyPr>
          <a:lstStyle/>
          <a:p>
            <a:r>
              <a:t>Traditional SAST tools depend on curated rule libraries — verbose output, high false positives, no fix guidance.</a:t>
            </a:r>
          </a:p>
          <a:p>
            <a:r>
              <a:t>AI Powered SAST Agent is a full-stack web platform where Large Language Models act as the scanning engine, reading source code directly.</a:t>
            </a:r>
          </a:p>
          <a:p>
            <a:r>
              <a:t>A developer submits a GitHub URL or ZIP; each file is analysed by a fault-tolerant multi-provider LLM pipeline.</a:t>
            </a:r>
          </a:p>
          <a:p>
            <a:r>
              <a:t>Every finding carries severity, exact line numbers, CWE/OWASP mapping, plain-English explanation, a proof-of-concept, and a ready-to-apply fix.</a:t>
            </a:r>
          </a:p>
          <a:p>
            <a:r>
              <a:t>Results stream live to a React dashboard over Server-Sent Events.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43072-489D-D1E2-EFA0-4E77FC759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3E873-C1B8-4D68-818D-2A2CE0CBDC6A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FD11AE-17FB-1917-AE6B-DF72C2FB0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32037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Rule-based scanners (SonarQube, Semgrep, Checkmarx) miss context-dependent and logic-level vulnerabilities.</a:t>
            </a:r>
          </a:p>
          <a:p>
            <a:r>
              <a:rPr lang="en-US" sz="2400" dirty="0"/>
              <a:t>Their output — rule IDs and line numbers — says nothing about exploitability, business impact, or remediation.</a:t>
            </a:r>
          </a:p>
          <a:p>
            <a:r>
              <a:rPr lang="en-US" sz="2400" dirty="0"/>
              <a:t>High false-positive noise causes developers to ignore genuine findings (alert fatigue).</a:t>
            </a:r>
          </a:p>
          <a:p>
            <a:r>
              <a:rPr lang="en-US" sz="2400" dirty="0"/>
              <a:t>Security incidents cost the global economy an estimated USD 8 trillion in 2023, much of it from preventable code weaknesses.</a:t>
            </a:r>
          </a:p>
          <a:p>
            <a:r>
              <a:rPr lang="en-US" sz="2400" dirty="0"/>
              <a:t>Need: tooling that detects, explains, and helps fix issues across many languages.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CC6E6-19F5-0C17-13A2-98DD1C39B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FF239-A0B5-446E-A547-056DBE1D0E2B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B32421-21FE-B32A-2C18-BE3500058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Existing System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64534"/>
            <a:ext cx="7696200" cy="1676400"/>
          </a:xfrm>
        </p:spPr>
        <p:txBody>
          <a:bodyPr>
            <a:normAutofit/>
          </a:bodyPr>
          <a:lstStyle/>
          <a:p>
            <a:r>
              <a:t>Existing systems: SonarQube, Semgrep, Checkmarx — signature / rule-based static analysers that match code against curated pattern libraries.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81000" y="4114800"/>
            <a:ext cx="7696200" cy="2362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t>Limitations:</a:t>
            </a:r>
          </a:p>
          <a:p>
            <a:pPr lvl="1"/>
            <a:r>
              <a:t>Manual rule maintenance for every language and vulnerability class.</a:t>
            </a:r>
          </a:p>
          <a:p>
            <a:pPr lvl="1"/>
            <a:r>
              <a:t>High false-positive rate leading to alert fatigue.</a:t>
            </a:r>
          </a:p>
          <a:p>
            <a:pPr lvl="1"/>
            <a:r>
              <a:t>No contextual explanation, impact analysis, or fix guidance.</a:t>
            </a:r>
          </a:p>
          <a:p>
            <a:pPr lvl="1"/>
            <a:r>
              <a:t>Weak on logic-level and context-dependent flaws.</a:t>
            </a:r>
          </a:p>
          <a:p>
            <a:pPr lvl="1"/>
            <a:r>
              <a:t>Separate tools needed for scanning, reporting and remediation.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2D981-2A15-6D7F-E409-38645AAE8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9906D-BF0B-4F1C-85EA-8A2D4AB9497E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CBCCF-49C3-8A54-605A-AD656B0E1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BA49D-CCD6-B48A-98FD-B8127C72C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CDD5D-B5F0-A973-E19E-F5E5B753B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22438"/>
            <a:ext cx="7696200" cy="1676400"/>
          </a:xfrm>
        </p:spPr>
        <p:txBody>
          <a:bodyPr>
            <a:normAutofit/>
          </a:bodyPr>
          <a:lstStyle/>
          <a:p>
            <a:r>
              <a:t>LLM-native scanning: models read and reason over source code, backed by a fault-tolerant multi-provider pipeline — NVIDIA NIM (Llama 3.1) to Google Gemini 1.5 Flash to OpenAI GPT-4o-mini.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A6E005C-5C49-4F05-4046-4A28BEA217FE}"/>
              </a:ext>
            </a:extLst>
          </p:cNvPr>
          <p:cNvSpPr txBox="1">
            <a:spLocks/>
          </p:cNvSpPr>
          <p:nvPr/>
        </p:nvSpPr>
        <p:spPr>
          <a:xfrm>
            <a:off x="381000" y="4114800"/>
            <a:ext cx="7696200" cy="2362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7846C-6655-55F6-6B68-F14E9B538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9906D-BF0B-4F1C-85EA-8A2D4AB9497E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534EB-FF82-6AC3-A3D0-65EFBA638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748337-3C66-A6AD-1391-97D30C5EE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Proposed System &amp; Objectives</a:t>
            </a:r>
            <a:br>
              <a:rPr lang="en-US" dirty="0"/>
            </a:br>
            <a:endParaRPr lang="en-IN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EE84E4E-2B89-46EE-2D25-724022EFFF61}"/>
              </a:ext>
            </a:extLst>
          </p:cNvPr>
          <p:cNvSpPr txBox="1">
            <a:spLocks/>
          </p:cNvSpPr>
          <p:nvPr/>
        </p:nvSpPr>
        <p:spPr>
          <a:xfrm>
            <a:off x="457200" y="29718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4114800"/>
            <a:ext cx="7699248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/>
              <a:t>Detect vulnerabilities through semantic LLM analysis across 11+ languages.</a:t>
            </a:r>
          </a:p>
          <a:p>
            <a:r>
              <a:rPr lang="en-US" sz="1600"/>
              <a:t>Enrich each issue with explanation, impact, proof-of-concept, remediation and fix code.</a:t>
            </a:r>
          </a:p>
          <a:p>
            <a:r>
              <a:rPr lang="en-US" sz="1600"/>
              <a:t>Map findings to CWE / OWASP and assign severity and a weighted risk score.</a:t>
            </a:r>
          </a:p>
          <a:p>
            <a:r>
              <a:rPr lang="en-US" sz="1600"/>
              <a:t>Stream live scan progress to the dashboard via Server-Sent Events.</a:t>
            </a:r>
          </a:p>
          <a:p>
            <a:r>
              <a:rPr lang="en-US" sz="1600"/>
              <a:t>Provide a transparent, developer-friendly alternative to rule engines.</a:t>
            </a:r>
          </a:p>
        </p:txBody>
      </p:sp>
    </p:spTree>
    <p:extLst>
      <p:ext uri="{BB962C8B-B14F-4D97-AF65-F5344CB8AC3E}">
        <p14:creationId xmlns:p14="http://schemas.microsoft.com/office/powerpoint/2010/main" val="2659015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191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Scope &amp;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362200"/>
            <a:ext cx="8229600" cy="3505200"/>
          </a:xfrm>
        </p:spPr>
        <p:txBody>
          <a:bodyPr>
            <a:normAutofit/>
          </a:bodyPr>
          <a:lstStyle/>
          <a:p>
            <a:r>
              <a:t>Web-based platform; source supplied as a GitHub repository URL or ZIP upload.</a:t>
            </a:r>
          </a:p>
          <a:p>
            <a:r>
              <a:t>Languages: JavaScript, TypeScript, Python, Go, Java, PHP, Ruby, C/C++.</a:t>
            </a:r>
          </a:p>
          <a:p>
            <a:r>
              <a:t>Five modules: Authentication, Projects &amp; Scans, AI Scanner, Issues &amp; AI Enrichment, Frontend Dashboard.</a:t>
            </a:r>
          </a:p>
          <a:p>
            <a:r>
              <a:t>Asynchronous scan pipeline using a Bull queue on Redis; findings persisted in PostgreSQL.</a:t>
            </a:r>
          </a:p>
          <a:p>
            <a:r>
              <a:t>Containerised deployment via Docker Compose with an Nginx reverse proxy.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305F3-81C3-A497-6BA1-AA1ACC02F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CF8EF-4D4C-4E39-B8DC-88E611DD12B5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754657-630D-7573-B5A3-6CD23663A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0161F-A654-6B84-6A1D-0B162E09A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9E552-D873-8345-B6D4-DF0E979DE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191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Feasibility Study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E239D-1322-C7D2-8195-223810C79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905000"/>
            <a:ext cx="8229600" cy="2438400"/>
          </a:xfrm>
        </p:spPr>
        <p:txBody>
          <a:bodyPr>
            <a:normAutofit lnSpcReduction="10000"/>
          </a:bodyPr>
          <a:lstStyle/>
          <a:p>
            <a:r>
              <a:rPr lang="en-US" sz="1500" dirty="0"/>
              <a:t>Technical: proven stack (Node.js, React, PostgreSQL, Redis); LLM APIs accessible; multi-provider fallback ensures reliability.</a:t>
            </a:r>
          </a:p>
          <a:p>
            <a:r>
              <a:rPr lang="en-US" sz="1500" dirty="0"/>
              <a:t>Economic: open-source stack, pay-per-use LLM APIs, runs on 4 GB RAM — no licensed scanner required.</a:t>
            </a:r>
          </a:p>
          <a:p>
            <a:r>
              <a:rPr lang="en-US" sz="1500" dirty="0"/>
              <a:t>Operational: simple web UI, GitHub login, no client install; fits existing developer workflow.</a:t>
            </a:r>
          </a:p>
          <a:p>
            <a:r>
              <a:rPr lang="en-US" sz="1500" dirty="0"/>
              <a:t>Legal: uses licensed AI APIs within terms; code processed transiently; all libraries open-source.</a:t>
            </a:r>
          </a:p>
          <a:p>
            <a:r>
              <a:rPr lang="en-US" sz="1500" dirty="0"/>
              <a:t>Schedule: modular milestones delivered within the academic timeline.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96853-C0B4-A6D9-6252-A3DEC1478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CF8EF-4D4C-4E39-B8DC-88E611DD12B5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1CF5B3-DAD0-E513-2120-18788F1F0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760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67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3800" dirty="0"/>
              <a:t>Requirements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43500"/>
          </a:xfrm>
        </p:spPr>
        <p:txBody>
          <a:bodyPr>
            <a:normAutofit/>
          </a:bodyPr>
          <a:lstStyle/>
          <a:p>
            <a:r>
              <a:rPr lang="en-US" sz="2200" dirty="0"/>
              <a:t>Functional Requirements</a:t>
            </a:r>
          </a:p>
          <a:p>
            <a:pPr lvl="1"/>
            <a:r>
              <a:rPr lang="en-US" sz="2200" dirty="0"/>
              <a:t>GitHub OAuth login; submit scan via URL or ZIP; live status; AI-enriched reports; dashboard &amp; history.</a:t>
            </a:r>
          </a:p>
          <a:p>
            <a:r>
              <a:rPr lang="en-US" sz="2200" dirty="0"/>
              <a:t>Non-Functional Requirements</a:t>
            </a:r>
          </a:p>
          <a:p>
            <a:pPr lvl="1"/>
            <a:r>
              <a:rPr lang="en-US" sz="2200" dirty="0"/>
              <a:t>Security (Helmet, CORS, rate-limiting, Zod); reliability via provider fallback; scalability via queue; usability.</a:t>
            </a:r>
          </a:p>
          <a:p>
            <a:r>
              <a:rPr lang="en-US" sz="2200" dirty="0"/>
              <a:t>Software Requirements</a:t>
            </a:r>
          </a:p>
          <a:p>
            <a:pPr lvl="1"/>
            <a:r>
              <a:rPr lang="en-US" sz="2200" dirty="0"/>
              <a:t>Node.js 20, React 18, PostgreSQL 15, Redis 7, Docker, Nginx, Prisma, Bull.</a:t>
            </a:r>
          </a:p>
          <a:p>
            <a:r>
              <a:rPr lang="en-US" sz="2200" dirty="0"/>
              <a:t>Hardware Requirements</a:t>
            </a:r>
          </a:p>
          <a:p>
            <a:pPr lvl="1"/>
            <a:r>
              <a:rPr lang="en-US" sz="2200" dirty="0"/>
              <a:t>Processor : Dual-core 2.0 GHz or higher</a:t>
            </a:r>
          </a:p>
          <a:p>
            <a:pPr lvl="1"/>
            <a:r>
              <a:rPr lang="en-US" sz="2200" dirty="0"/>
              <a:t>Hard disk : 20 GB minimum</a:t>
            </a:r>
          </a:p>
          <a:p>
            <a:pPr lvl="1"/>
            <a:r>
              <a:rPr lang="en-US" sz="2200" dirty="0"/>
              <a:t>RAM : 4 GB minimum (8 GB recommended)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734AE-1F2E-3BF4-503B-5AA84A002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7C70C-0D1C-4A00-B1F1-946154CA986C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70AFBE-8F45-ED2C-E276-7BF585650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System Architecture (Diagram)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E4FA39-024C-4016-139A-425E3C0B7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003B-6E22-4418-BEC0-96A05D81B40C}" type="datetime1">
              <a:rPr lang="en-US" smtClean="0"/>
              <a:t>5/1/2026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2F976C-F973-5388-1DAD-EE86FAF36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" name="Picture 4" descr="_ppt_diag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626" y="1644000"/>
            <a:ext cx="6650749" cy="491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Module 1 — Authentication: GitHub OAuth 2.0 with a JWT stored as an HttpOnly cookie.</a:t>
            </a:r>
          </a:p>
          <a:p>
            <a:r>
              <a:rPr lang="en-US" sz="2400" dirty="0"/>
              <a:t>Module 2 — Projects &amp; Scans: scan submission, Bull queue dispatch, 7-state lifecycle tracking.</a:t>
            </a:r>
          </a:p>
          <a:p>
            <a:r>
              <a:rPr lang="en-US" sz="2400" dirty="0"/>
              <a:t>Module 3 — AI Scanner: walks source files; multi-provider LLM chain (NVIDIA → Gemini → OpenAI); structured JSON findings.</a:t>
            </a:r>
          </a:p>
          <a:p>
            <a:r>
              <a:rPr lang="en-US" sz="2400" dirty="0"/>
              <a:t>Module 4 — Issues &amp; AI Enrichment: adds explanation, impact, PoC, remediation and fix code per issue.</a:t>
            </a:r>
          </a:p>
          <a:p>
            <a:r>
              <a:rPr lang="en-US" sz="2400" dirty="0"/>
              <a:t>Module 5 — Frontend Dashboard: React/Vite — Dashboard, New Scan, Results, History, Projects.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AD2E0-E7F6-ED38-3EE5-AE221500A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35911-1EFF-460B-BB0B-DE7048A69EF0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C237B8-837B-31D7-DC7A-46037D48E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457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err="1"/>
              <a:t>Usecase</a:t>
            </a:r>
            <a:r>
              <a:rPr lang="en-US" sz="2400" dirty="0"/>
              <a:t> Diagram: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UML Diagrams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8E3778-4C48-7936-D130-C0F276C9A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82A1B-AEBD-4B20-B464-C70CBE8FFE74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0FC6C1-8AC1-DCB9-35E4-47E721A61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" name="Picture 5" descr="_ppt_diag2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52" y="1644001"/>
            <a:ext cx="4794495" cy="49139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UML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1"/>
            <a:ext cx="8229600" cy="457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Class Diagram: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5CD38-276F-67A9-C771-983BBE9AB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7CD82-35AE-44FE-AF96-D0590E2C2845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E4F6E8-D44E-EEF3-C289-0C6449141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Picture 5" descr="_ppt_diag2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126" y="1720201"/>
            <a:ext cx="1783748" cy="48377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37533-ADCF-15C3-37E9-9E81CFEC2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6E160-22D9-F1BA-FF3A-A8BD00443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UML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ECF5F-74C2-0BDE-4260-BFE09ABD6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1"/>
            <a:ext cx="8229600" cy="457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Activity Diagram: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F4C2A-0EA3-D09F-B066-C8C37AD27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7CD82-35AE-44FE-AF96-D0590E2C2845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6CCBEC-3FF1-7610-23C7-69884F6BB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6" name="Picture 5" descr="_ppt_diag2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634" y="1720201"/>
            <a:ext cx="1598732" cy="483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362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229600" cy="533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Sequence Diagram: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UML Diagrams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97E1AE-5BD5-2A5F-9F79-527A0AD43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B7492-4B65-4C8B-AAC2-77A9F54B5371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62843D-C23F-598A-011F-9110A6D38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Picture 5" descr="_ppt_diag2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881" y="1644000"/>
            <a:ext cx="5730238" cy="491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349" y="1066800"/>
            <a:ext cx="8229600" cy="457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Collaboration Diagram: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UML Diagrams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944011-C57E-E9F6-6FC8-6C605F695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F6DDE-51CD-4C7A-9917-CA7BC97E23EE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67BB1-B2AA-734D-389C-4D87989CC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Picture 5" descr="_ppt_diag2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606" y="1644000"/>
            <a:ext cx="3506789" cy="4914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C5B82-614A-E28D-B829-FA9A179BD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409784-0558-8BE6-A144-FC0F11BE1E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z="1500"/>
              <a:t>Test Case 1 — GitHub OAuth Login</a:t>
            </a:r>
          </a:p>
          <a:p>
            <a:pPr lvl="1"/>
            <a:r>
              <a:rPr lang="en-US" dirty="0" sz="1500"/>
              <a:t>Action: click "Login with GitHub" and authorise.</a:t>
            </a:r>
          </a:p>
          <a:p>
            <a:pPr lvl="1"/>
            <a:r>
              <a:rPr lang="en-US" dirty="0" sz="1500"/>
              <a:t>Expected: JWT cookie set, user redirected to dashboard.</a:t>
            </a:r>
          </a:p>
          <a:p>
            <a:pPr lvl="1"/>
            <a:r>
              <a:rPr lang="en-US" dirty="0" sz="1500"/>
              <a:t>Result: login successful — session established.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668222B-C599-EAEA-3FBE-21596BC6D0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Result Screen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8F4EC-5304-8D26-120A-231BFD687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78191-2160-4398-8955-43731C5975A3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27A60-645E-3214-CFF7-081833B16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8" name="Picture 7" descr="_ppt_ss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600325"/>
            <a:ext cx="4041648" cy="252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611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3C669-1784-C8D4-B202-047D9F331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2B6AE-3588-2896-43E9-C9DCBAD39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3BEBA4-9EAA-5E20-66A7-8E73EC633F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z="1500"/>
              <a:t>Test Case 2 — New Scan Submission</a:t>
            </a:r>
          </a:p>
          <a:p>
            <a:pPr lvl="1"/>
            <a:r>
              <a:rPr lang="en-US" dirty="0" sz="1500"/>
              <a:t>Action: submit a GitHub repo URL / ZIP upload.</a:t>
            </a:r>
          </a:p>
          <a:p>
            <a:pPr lvl="1"/>
            <a:r>
              <a:rPr lang="en-US" dirty="0" sz="1500"/>
              <a:t>Expected: scan job queued, status PENDING → SCANNING.</a:t>
            </a:r>
          </a:p>
          <a:p>
            <a:pPr lvl="1"/>
            <a:r>
              <a:rPr lang="en-US" dirty="0" sz="1500"/>
              <a:t>Result: scan created and dispatched to worker.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E05EF41-DBB6-1CD6-C289-890A7E46A52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Result Screen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E83B-4E8F-876E-896B-E1C73CAC5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78191-2160-4398-8955-43731C5975A3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8E8693-3FD4-FB02-6E96-95B755617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8" name="Picture 7" descr="_ppt_ss_new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600325"/>
            <a:ext cx="4041648" cy="252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868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4B044-5B58-A82F-EA32-6ED69015F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D7570-FBA1-5E1C-E72A-494E922DC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E9D4A-D0D8-9037-9DB0-92E0F22C82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z="1500"/>
              <a:t>Test Case 3 — Dashboard Overview</a:t>
            </a:r>
          </a:p>
          <a:p>
            <a:pPr lvl="1"/>
            <a:r>
              <a:rPr lang="en-US" dirty="0" sz="1500"/>
              <a:t>Action: open dashboard after scans complete.</a:t>
            </a:r>
          </a:p>
          <a:p>
            <a:pPr lvl="1"/>
            <a:r>
              <a:rPr lang="en-US" dirty="0" sz="1500"/>
              <a:t>Expected: risk score, severity breakdown, recent scans.</a:t>
            </a:r>
          </a:p>
          <a:p>
            <a:pPr lvl="1"/>
            <a:r>
              <a:rPr lang="en-US" dirty="0" sz="1500"/>
              <a:t>Result: metrics render with live data.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A477F4-4A3B-BF58-A1A1-64FA11AA9F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Result Screen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94D98-916B-F704-7CA4-6FFADEEEB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78191-2160-4398-8955-43731C5975A3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3901A5-4011-00B2-0555-B07FB9303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8" name="Picture 7" descr="_ppt_ss_dashboar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840" y="1600200"/>
            <a:ext cx="3912270" cy="452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883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B1429-3677-114D-2C77-E7E2241EC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D6CA3-B555-FEA8-FCD4-4014413FC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197257-DBD1-7936-32F6-4CBDC659B6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z="1500"/>
              <a:t>Test Case 4 — Scan Results</a:t>
            </a:r>
          </a:p>
          <a:p>
            <a:pPr lvl="1"/>
            <a:r>
              <a:rPr lang="en-US" dirty="0" sz="1500"/>
              <a:t>Action: open a completed scan.</a:t>
            </a:r>
          </a:p>
          <a:p>
            <a:pPr lvl="1"/>
            <a:r>
              <a:rPr lang="en-US" dirty="0" sz="1500"/>
              <a:t>Expected: issue list, severity filters, AI Insight panel, code view.</a:t>
            </a:r>
          </a:p>
          <a:p>
            <a:pPr lvl="1"/>
            <a:r>
              <a:rPr lang="en-US" dirty="0" sz="1500"/>
              <a:t>Result: findings and AI remediation displayed.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2B618A8-310C-A549-6647-198C042930D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Result Screen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BE5C1-AB68-38D1-D6D0-2D8C6BC9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78191-2160-4398-8955-43731C5975A3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979C94-DA64-90F8-9665-D99A65711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8" name="Picture 7" descr="_ppt_ss_scan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335091"/>
            <a:ext cx="4041648" cy="305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866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3EFAE-61FA-8635-5835-BD217B008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A1B05-208C-F652-CD6A-3B7E8B236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19D74-CD20-C18C-4FBB-CE4AE83C8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90601"/>
            <a:ext cx="8229600" cy="2209800"/>
          </a:xfrm>
        </p:spPr>
        <p:txBody>
          <a:bodyPr>
            <a:normAutofit/>
          </a:bodyPr>
          <a:lstStyle/>
          <a:p>
            <a:r>
              <a:t>Explains and fixes issues, not just detects them.</a:t>
            </a:r>
          </a:p>
          <a:p>
            <a:r>
              <a:t>Multi-provider fallback gives high availability even if one AI API fails.</a:t>
            </a:r>
          </a:p>
          <a:p>
            <a:r>
              <a:t>Covers 11+ languages with no rule libraries to maintain.</a:t>
            </a:r>
          </a:p>
          <a:p>
            <a:r>
              <a:t>Live streaming results and a weighted risk score for instant posture.</a:t>
            </a:r>
          </a:p>
          <a:p>
            <a:r>
              <a:t>Developer-friendly; one-command Docker Compose deployment.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EB952F7-851B-E51E-DADA-DBC838116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9327E-B2F9-427D-A08D-50273A985C84}" type="datetime1">
              <a:rPr lang="en-US" smtClean="0"/>
              <a:t>5/1/2026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18314-00C8-C701-7B8D-8F31FABB2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364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B4F28-0F53-C4BB-C221-AD882B380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DCD1D-BC40-BBAD-261E-5C0B631F2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EEC32-8CDB-EBAA-864A-5AAE94D72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196" y="1297632"/>
            <a:ext cx="8229600" cy="2209800"/>
          </a:xfrm>
        </p:spPr>
        <p:txBody>
          <a:bodyPr>
            <a:normAutofit/>
          </a:bodyPr>
          <a:lstStyle/>
          <a:p>
            <a:r>
              <a:t>The AI Powered SAST Agent demonstrates LLM-native static analysis as a practical, transparent alternative to rule engines — uniting detection, explanation and remediation in one deployable platform.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C06283-9DD7-A10C-EF9D-F04FAED502BA}"/>
              </a:ext>
            </a:extLst>
          </p:cNvPr>
          <p:cNvSpPr txBox="1">
            <a:spLocks/>
          </p:cNvSpPr>
          <p:nvPr/>
        </p:nvSpPr>
        <p:spPr>
          <a:xfrm>
            <a:off x="381000" y="35074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latin typeface="+mj-lt"/>
                <a:ea typeface="+mj-ea"/>
                <a:cs typeface="+mj-cs"/>
              </a:rPr>
              <a:t>Future Work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943543-D7AD-3DBD-6964-78CB52FD1B59}"/>
              </a:ext>
            </a:extLst>
          </p:cNvPr>
          <p:cNvSpPr txBox="1"/>
          <p:nvPr/>
        </p:nvSpPr>
        <p:spPr>
          <a:xfrm>
            <a:off x="457200" y="4494177"/>
            <a:ext cx="784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CI/CD pull-request scanning via a GitHub Action.</a:t>
            </a:r>
          </a:p>
          <a:p>
            <a:r>
              <a:rPr lang="en-US" sz="1500" dirty="0"/>
              <a:t>Automated fix pull requests using AI-generated patches.</a:t>
            </a:r>
          </a:p>
          <a:p>
            <a:r>
              <a:rPr lang="en-US" sz="1500" dirty="0"/>
              <a:t>SARIF export; fine-tuned local security model; precision/recall benchmarking; WebSocket push.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72CB233-34C3-51BB-87AC-43EA641D5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9327E-B2F9-427D-A08D-50273A985C84}" type="datetime1">
              <a:rPr lang="en-US" smtClean="0"/>
              <a:t>5/1/2026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B585E3-0A9D-B394-8810-77189F292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644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229600" cy="4525963"/>
          </a:xfrm>
        </p:spPr>
        <p:txBody>
          <a:bodyPr>
            <a:normAutofit/>
          </a:bodyPr>
          <a:lstStyle/>
          <a:p>
            <a:r>
              <a:rPr lang="en-US" sz="1500"/>
              <a:t>OWASP Foundation, "OWASP Top 10", 2021.</a:t>
            </a:r>
          </a:p>
          <a:p>
            <a:r>
              <a:rPr lang="en-US" sz="1500"/>
              <a:t>MITRE, "CWE Top 25 Most Dangerous Software Weaknesses", 2024.</a:t>
            </a:r>
          </a:p>
          <a:p>
            <a:r>
              <a:rPr lang="en-US" sz="1500"/>
              <a:t>B. Livshits and M. Lam, "Finding Security Vulnerabilities in Java Applications with Static Analysis", USENIX Security Symposium, 2005.</a:t>
            </a:r>
          </a:p>
          <a:p>
            <a:r>
              <a:rPr lang="en-US" sz="1500"/>
              <a:t>C. Tony et al., "LLMSecEval: A Dataset of NL Prompts for Security Evaluations", arXiv:2303.09384, 2023.</a:t>
            </a:r>
          </a:p>
          <a:p>
            <a:r>
              <a:rPr lang="en-US" sz="1500"/>
              <a:t>E. Yildirim et al., "ChatGPT vs. Static Analysis: Evaluating LLMs for OWASP API Security", arXiv:2412.09734, 2024.</a:t>
            </a:r>
          </a:p>
          <a:p>
            <a:r>
              <a:rPr lang="en-US" sz="1500"/>
              <a:t>Prisma, React, PostgreSQL, Docker and Express — official documentation, 2024.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104D7-8610-B764-B714-087A5A0BB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C62EA-C19D-4D25-B464-828EF9C9DB29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1FDFB-46C3-9D21-0668-5C2EE55CF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D7CDE-0DF4-15E0-E8C9-64A113DF2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32348-3BBE-0A6F-8E16-CF79EF5B7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E7C38-B6FA-F1B5-CDB3-F7FF541C2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78191-2160-4398-8955-43731C5975A3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C7B770-85DD-F2D0-F28E-5C70AB068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22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223</Words>
  <Application>Microsoft Office PowerPoint</Application>
  <PresentationFormat>On-screen Show (4:3)</PresentationFormat>
  <Paragraphs>112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Bahnschrift SemiBold</vt:lpstr>
      <vt:lpstr>Calibri</vt:lpstr>
      <vt:lpstr>Times New Roman</vt:lpstr>
      <vt:lpstr>Office Theme</vt:lpstr>
      <vt:lpstr>PowerPoint Presentation</vt:lpstr>
      <vt:lpstr>Introduction</vt:lpstr>
      <vt:lpstr>Problem Statement</vt:lpstr>
      <vt:lpstr>Existing System &amp; Limitations</vt:lpstr>
      <vt:lpstr>Proposed System &amp; Objectives </vt:lpstr>
      <vt:lpstr>Scope &amp; Modules</vt:lpstr>
      <vt:lpstr>Feasibility Study</vt:lpstr>
      <vt:lpstr>Requirements Specification</vt:lpstr>
      <vt:lpstr>System Architecture (Diagram)</vt:lpstr>
      <vt:lpstr>Modules</vt:lpstr>
      <vt:lpstr>UML Diagrams</vt:lpstr>
      <vt:lpstr>UML Diagrams</vt:lpstr>
      <vt:lpstr>UML Diagrams</vt:lpstr>
      <vt:lpstr>UML Diagrams</vt:lpstr>
      <vt:lpstr>UML Diagrams</vt:lpstr>
      <vt:lpstr>Results</vt:lpstr>
      <vt:lpstr>Results</vt:lpstr>
      <vt:lpstr>Results</vt:lpstr>
      <vt:lpstr>Results</vt:lpstr>
      <vt:lpstr>Advantages</vt:lpstr>
      <vt:lpstr>Conclusion</vt:lpstr>
      <vt:lpstr>References</vt:lpstr>
      <vt:lpstr>Thank You Slide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crackpot</dc:creator>
  <cp:lastModifiedBy>Administrator</cp:lastModifiedBy>
  <cp:revision>57</cp:revision>
  <dcterms:created xsi:type="dcterms:W3CDTF">2006-08-16T00:00:00Z</dcterms:created>
  <dcterms:modified xsi:type="dcterms:W3CDTF">2026-05-01T09:15:51Z</dcterms:modified>
</cp:coreProperties>
</file>